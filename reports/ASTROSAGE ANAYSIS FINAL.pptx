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OneDrive\Desktop\astrotsalk%20project\AstroSage_analysis_utkarsh_final%20(version%201).xlsb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dashboard!PivotTable3</c:name>
    <c:fmtId val="17"/>
  </c:pivotSource>
  <c:chart>
    <c:autoTitleDeleted val="1"/>
    <c:pivotFmts>
      <c:pivotFmt>
        <c:idx val="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6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tint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>
              <a:shade val="6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tint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D8F3691-9255-41D5-B774-D19F14F5657A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98D7A27C-3844-4082-99B9-38CEEE7DFE63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3AC32D4-6C20-474A-904E-65FED4F1B126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EB6AB1E7-3154-491A-9722-FD721D2244F1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6">
              <a:shade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87CFE2C-2CEB-4D1F-B0E5-4B9416AD37DB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1BD3979A-2EBA-47A2-A69A-F04A61B9B6A4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tint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D8F3691-9255-41D5-B774-D19F14F5657A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98D7A27C-3844-4082-99B9-38CEEE7DFE63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3AC32D4-6C20-474A-904E-65FED4F1B126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EB6AB1E7-3154-491A-9722-FD721D2244F1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5"/>
        <c:spPr>
          <a:solidFill>
            <a:schemeClr val="accent6">
              <a:shade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87CFE2C-2CEB-4D1F-B0E5-4B9416AD37DB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1BD3979A-2EBA-47A2-A69A-F04A61B9B6A4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>
              <a:tint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DD8F3691-9255-41D5-B774-D19F14F5657A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98D7A27C-3844-4082-99B9-38CEEE7DFE63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A3AC32D4-6C20-474A-904E-65FED4F1B126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EB6AB1E7-3154-491A-9722-FD721D2244F1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9"/>
        <c:spPr>
          <a:solidFill>
            <a:schemeClr val="accent6">
              <a:shade val="65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087CFE2C-2CEB-4D1F-B0E5-4B9416AD37DB}" type="CATEGORYNAM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[CATEGORY NAME]</a:t>
                </a:fld>
                <a:r>
                  <a:rPr lang="en-US" baseline="0"/>
                  <a:t>, </a:t>
                </a:r>
                <a:fld id="{1BD3979A-2EBA-47A2-A69A-F04A61B9B6A4}" type="PERCENTAGE">
                  <a:rPr lang="en-US" baseline="0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endParaRPr lang="en-US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'pivottable for dashboard'!$B$30</c:f>
              <c:strCache>
                <c:ptCount val="1"/>
                <c:pt idx="0">
                  <c:v>Total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6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0D-4519-9713-0D497A2F9FBD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0D-4519-9713-0D497A2F9FBD}"/>
              </c:ext>
            </c:extLst>
          </c:dPt>
          <c:dPt>
            <c:idx val="2"/>
            <c:bubble3D val="0"/>
            <c:explosion val="7"/>
            <c:spPr>
              <a:solidFill>
                <a:schemeClr val="accent6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0D-4519-9713-0D497A2F9FB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D8F3691-9255-41D5-B774-D19F14F5657A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98D7A27C-3844-4082-99B9-38CEEE7DFE63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70D-4519-9713-0D497A2F9FB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3AC32D4-6C20-474A-904E-65FED4F1B126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EB6AB1E7-3154-491A-9722-FD721D2244F1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70D-4519-9713-0D497A2F9FB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087CFE2C-2CEB-4D1F-B0E5-4B9416AD37DB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, </a:t>
                    </a:r>
                    <a:fld id="{1BD3979A-2EBA-47A2-A69A-F04A61B9B6A4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70D-4519-9713-0D497A2F9F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'pivottable for dashboard'!$A$31:$A$34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'pivottable for dashboard'!$B$31:$B$34</c:f>
              <c:numCache>
                <c:formatCode>General</c:formatCode>
                <c:ptCount val="3"/>
                <c:pt idx="0">
                  <c:v>7800</c:v>
                </c:pt>
                <c:pt idx="1">
                  <c:v>2</c:v>
                </c:pt>
                <c:pt idx="2">
                  <c:v>20225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70D-4519-9713-0D497A2F9FB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dashboard!PivotTable46</c:name>
    <c:fmtId val="29"/>
  </c:pivotSource>
  <c:chart>
    <c:autoTitleDeleted val="1"/>
    <c:pivotFmts>
      <c:pivotFmt>
        <c:idx val="0"/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6">
              <a:tint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>
              <a:tint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7375971133677865E-2"/>
              <c:y val="8.05071422576373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1551173672193184E-2"/>
              <c:y val="-5.25331432572904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5130910531024941E-4"/>
              <c:y val="-2.01797120548381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295244195199746E-2"/>
              <c:y val="1.67093210335091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1599088637797085E-2"/>
              <c:y val="-1.617650681822666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7375971133677865E-2"/>
              <c:y val="8.05071422576373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1551173672193184E-2"/>
              <c:y val="-5.25331432572904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5130910531024941E-4"/>
              <c:y val="-2.01797120548381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295244195199746E-2"/>
              <c:y val="1.67093210335091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1599088637797085E-2"/>
              <c:y val="-1.617650681822666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3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5.7375971133677865E-2"/>
              <c:y val="8.05071422576373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6.1551173672193184E-2"/>
              <c:y val="-5.253314325729048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5130910531024941E-4"/>
              <c:y val="-2.01797120548381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295244195199746E-2"/>
              <c:y val="1.670932103350915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1599088637797085E-2"/>
              <c:y val="-1.617650681822666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8314493416592717"/>
          <c:y val="0.12007317976802363"/>
          <c:w val="0.59209121213850024"/>
          <c:h val="0.86882308004201059"/>
        </c:manualLayout>
      </c:layout>
      <c:pieChart>
        <c:varyColors val="1"/>
        <c:ser>
          <c:idx val="0"/>
          <c:order val="0"/>
          <c:tx>
            <c:strRef>
              <c:f>'pivottable for dashboard'!$CR$2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12"/>
            <c:spPr>
              <a:solidFill>
                <a:schemeClr val="accent6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618-44BC-A6DD-55245D2A18B0}"/>
              </c:ext>
            </c:extLst>
          </c:dPt>
          <c:dPt>
            <c:idx val="1"/>
            <c:bubble3D val="0"/>
            <c:explosion val="5"/>
            <c:spPr>
              <a:solidFill>
                <a:schemeClr val="accent6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618-44BC-A6DD-55245D2A18B0}"/>
              </c:ext>
            </c:extLst>
          </c:dPt>
          <c:dPt>
            <c:idx val="2"/>
            <c:bubble3D val="0"/>
            <c:spPr>
              <a:solidFill>
                <a:schemeClr val="accent6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618-44BC-A6DD-55245D2A18B0}"/>
              </c:ext>
            </c:extLst>
          </c:dPt>
          <c:dPt>
            <c:idx val="3"/>
            <c:bubble3D val="0"/>
            <c:spPr>
              <a:solidFill>
                <a:schemeClr val="accent6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618-44BC-A6DD-55245D2A18B0}"/>
              </c:ext>
            </c:extLst>
          </c:dPt>
          <c:dPt>
            <c:idx val="4"/>
            <c:bubble3D val="0"/>
            <c:spPr>
              <a:solidFill>
                <a:schemeClr val="accent6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618-44BC-A6DD-55245D2A18B0}"/>
              </c:ext>
            </c:extLst>
          </c:dPt>
          <c:dPt>
            <c:idx val="5"/>
            <c:bubble3D val="0"/>
            <c:spPr>
              <a:solidFill>
                <a:schemeClr val="accent6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618-44BC-A6DD-55245D2A18B0}"/>
              </c:ext>
            </c:extLst>
          </c:dPt>
          <c:dLbls>
            <c:dLbl>
              <c:idx val="0"/>
              <c:layout>
                <c:manualLayout>
                  <c:x val="5.7375971133677865E-2"/>
                  <c:y val="8.05071422576373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18-44BC-A6DD-55245D2A18B0}"/>
                </c:ext>
              </c:extLst>
            </c:dLbl>
            <c:dLbl>
              <c:idx val="1"/>
              <c:layout>
                <c:manualLayout>
                  <c:x val="-0.14275908615666444"/>
                  <c:y val="6.5639671683540415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18-44BC-A6DD-55245D2A18B0}"/>
                </c:ext>
              </c:extLst>
            </c:dLbl>
            <c:dLbl>
              <c:idx val="2"/>
              <c:layout>
                <c:manualLayout>
                  <c:x val="2.5130910531024941E-4"/>
                  <c:y val="-2.017971205483810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18-44BC-A6DD-55245D2A18B0}"/>
                </c:ext>
              </c:extLst>
            </c:dLbl>
            <c:dLbl>
              <c:idx val="3"/>
              <c:layout>
                <c:manualLayout>
                  <c:x val="-1.4403461061052234E-2"/>
                  <c:y val="-8.9343171438510338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18-44BC-A6DD-55245D2A18B0}"/>
                </c:ext>
              </c:extLst>
            </c:dLbl>
            <c:dLbl>
              <c:idx val="4"/>
              <c:layout>
                <c:manualLayout>
                  <c:x val="-1.1599088637797085E-2"/>
                  <c:y val="-1.6176506818226665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618-44BC-A6DD-55245D2A1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'pivottable for dashboard'!$CQ$3:$CQ$9</c:f>
              <c:strCache>
                <c:ptCount val="6"/>
                <c:pt idx="0">
                  <c:v>busy</c:v>
                </c:pt>
                <c:pt idx="1">
                  <c:v>completed</c:v>
                </c:pt>
                <c:pt idx="2">
                  <c:v>failed</c:v>
                </c:pt>
                <c:pt idx="3">
                  <c:v>incomplete</c:v>
                </c:pt>
                <c:pt idx="4">
                  <c:v>no-answer</c:v>
                </c:pt>
                <c:pt idx="5">
                  <c:v>(blank)</c:v>
                </c:pt>
              </c:strCache>
            </c:strRef>
          </c:cat>
          <c:val>
            <c:numRef>
              <c:f>'pivottable for dashboard'!$CR$3:$CR$9</c:f>
              <c:numCache>
                <c:formatCode>General</c:formatCode>
                <c:ptCount val="6"/>
                <c:pt idx="0">
                  <c:v>1270</c:v>
                </c:pt>
                <c:pt idx="1">
                  <c:v>3451</c:v>
                </c:pt>
                <c:pt idx="2">
                  <c:v>1040</c:v>
                </c:pt>
                <c:pt idx="3">
                  <c:v>875</c:v>
                </c:pt>
                <c:pt idx="4">
                  <c:v>1729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18-44BC-A6DD-55245D2A18B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dashboard!PivotTable1</c:name>
    <c:fmtId val="20"/>
  </c:pivotSource>
  <c:chart>
    <c:autoTitleDeleted val="1"/>
    <c:pivotFmts>
      <c:pivotFmt>
        <c:idx val="0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2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3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4"/>
        <c:dLbl>
          <c:idx val="0"/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-1.3859722253558025E-2"/>
              <c:y val="1.8633251036474587E-2"/>
            </c:manualLayout>
          </c:layout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7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layout>
            <c:manualLayout>
              <c:x val="-1.3859722253558025E-2"/>
              <c:y val="1.8633251036474587E-2"/>
            </c:manualLayout>
          </c:layout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6">
              <a:tint val="9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3859722253558025E-2"/>
              <c:y val="1.8633251036474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>
              <a:tint val="5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3859722253558025E-2"/>
              <c:y val="1.8633251036474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6">
              <a:shade val="5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6">
              <a:shade val="7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1"/>
        <c:spPr>
          <a:solidFill>
            <a:schemeClr val="accent6">
              <a:shade val="9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6">
              <a:tint val="7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3859722253558025E-2"/>
              <c:y val="1.8633251036474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3040539134499522"/>
          <c:y val="0.23367820742256287"/>
          <c:w val="0.39189195405370536"/>
          <c:h val="0.65622862265429194"/>
        </c:manualLayout>
      </c:layout>
      <c:pieChart>
        <c:varyColors val="1"/>
        <c:ser>
          <c:idx val="0"/>
          <c:order val="0"/>
          <c:tx>
            <c:strRef>
              <c:f>'pivottable for dashboard'!$CW$2</c:f>
              <c:strCache>
                <c:ptCount val="1"/>
                <c:pt idx="0">
                  <c:v>Total</c:v>
                </c:pt>
              </c:strCache>
            </c:strRef>
          </c:tx>
          <c:explosion val="4"/>
          <c:dPt>
            <c:idx val="0"/>
            <c:bubble3D val="0"/>
            <c:explosion val="16"/>
            <c:spPr>
              <a:solidFill>
                <a:schemeClr val="accent6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AF0-496D-A128-71149EC38414}"/>
              </c:ext>
            </c:extLst>
          </c:dPt>
          <c:dPt>
            <c:idx val="1"/>
            <c:bubble3D val="0"/>
            <c:spPr>
              <a:solidFill>
                <a:schemeClr val="accent6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AF0-496D-A128-71149EC38414}"/>
              </c:ext>
            </c:extLst>
          </c:dPt>
          <c:dPt>
            <c:idx val="2"/>
            <c:bubble3D val="0"/>
            <c:explosion val="15"/>
            <c:spPr>
              <a:solidFill>
                <a:schemeClr val="accent6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AF0-496D-A128-71149EC38414}"/>
              </c:ext>
            </c:extLst>
          </c:dPt>
          <c:dPt>
            <c:idx val="3"/>
            <c:bubble3D val="0"/>
            <c:spPr>
              <a:solidFill>
                <a:schemeClr val="accent6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AF0-496D-A128-71149EC38414}"/>
              </c:ext>
            </c:extLst>
          </c:dPt>
          <c:dPt>
            <c:idx val="4"/>
            <c:bubble3D val="0"/>
            <c:spPr>
              <a:solidFill>
                <a:schemeClr val="accent6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AF0-496D-A128-71149EC38414}"/>
              </c:ext>
            </c:extLst>
          </c:dPt>
          <c:dPt>
            <c:idx val="5"/>
            <c:bubble3D val="0"/>
            <c:spPr>
              <a:solidFill>
                <a:schemeClr val="accent6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AF0-496D-A128-71149EC38414}"/>
              </c:ext>
            </c:extLst>
          </c:dPt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AF0-496D-A128-71149EC38414}"/>
                </c:ext>
              </c:extLst>
            </c:dLbl>
            <c:dLbl>
              <c:idx val="4"/>
              <c:layout>
                <c:manualLayout>
                  <c:x val="-1.2000131782690344E-2"/>
                  <c:y val="-4.5568698785107255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AF0-496D-A128-71149EC384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'pivottable for dashboard'!$CV$3:$CV$9</c:f>
              <c:strCache>
                <c:ptCount val="6"/>
                <c:pt idx="0">
                  <c:v>completed</c:v>
                </c:pt>
                <c:pt idx="1">
                  <c:v>failed</c:v>
                </c:pt>
                <c:pt idx="2">
                  <c:v>incomplete</c:v>
                </c:pt>
                <c:pt idx="3">
                  <c:v>pending</c:v>
                </c:pt>
                <c:pt idx="4">
                  <c:v>started</c:v>
                </c:pt>
                <c:pt idx="5">
                  <c:v>(blank)</c:v>
                </c:pt>
              </c:strCache>
            </c:strRef>
          </c:cat>
          <c:val>
            <c:numRef>
              <c:f>'pivottable for dashboard'!$CW$3:$CW$9</c:f>
              <c:numCache>
                <c:formatCode>General</c:formatCode>
                <c:ptCount val="6"/>
                <c:pt idx="0">
                  <c:v>5535</c:v>
                </c:pt>
                <c:pt idx="1">
                  <c:v>7255</c:v>
                </c:pt>
                <c:pt idx="2">
                  <c:v>6641</c:v>
                </c:pt>
                <c:pt idx="3">
                  <c:v>48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AF0-496D-A128-71149EC38414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dashboard!PivotTable34</c:name>
    <c:fmtId val="6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Product wise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layout>
            <c:manualLayout>
              <c:x val="0.30613128343374368"/>
              <c:y val="4.9163385826771613E-2"/>
            </c:manualLayout>
          </c:layout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-8.8191123893854601E-3"/>
              <c:y val="5.661708953047527E-2"/>
            </c:manualLayout>
          </c:layout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5.2464947987336044E-2"/>
              <c:y val="-5.0101341498979123E-2"/>
            </c:manualLayout>
          </c:layout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5.2464947987336044E-2"/>
              <c:y val="-5.0101341498979123E-2"/>
            </c:manualLayout>
          </c:layout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layout>
            <c:manualLayout>
              <c:x val="-8.8191123893854601E-3"/>
              <c:y val="5.661708953047527E-2"/>
            </c:manualLayout>
          </c:layout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</c:pivotFmt>
      <c:pivotFmt>
        <c:idx val="8"/>
        <c:dLbl>
          <c:idx val="0"/>
          <c:layout>
            <c:manualLayout>
              <c:x val="0.30613128343374368"/>
              <c:y val="4.9163385826771613E-2"/>
            </c:manualLayout>
          </c:layout>
          <c:dLblPos val="bestFit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circle"/>
          <c:size val="5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shade val="5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3BDBEB5F-BC10-4433-8D09-5A7C050E874A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r>
                  <a:rPr lang="en-US"/>
                  <a:t>,Call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6">
              <a:shade val="86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3913268969233283E-3"/>
              <c:y val="4.1852354037322419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F62B5F48-0AFC-4AEC-A6BE-3371EA0DA866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r>
                  <a:rPr lang="en-US"/>
                  <a:t>, Chat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6">
              <a:tint val="8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>
              <a:tint val="5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6">
              <a:shade val="5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3BDBEB5F-BC10-4433-8D09-5A7C050E874A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r>
                  <a:rPr lang="en-US"/>
                  <a:t>,Call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6"/>
        <c:spPr>
          <a:solidFill>
            <a:schemeClr val="accent6">
              <a:shade val="86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3913268969233283E-3"/>
              <c:y val="4.1852354037322419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F62B5F48-0AFC-4AEC-A6BE-3371EA0DA866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r>
                  <a:rPr lang="en-US"/>
                  <a:t>, Chat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7"/>
        <c:spPr>
          <a:solidFill>
            <a:schemeClr val="accent6">
              <a:tint val="8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6">
              <a:tint val="5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>
              <a:shade val="5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3BDBEB5F-BC10-4433-8D09-5A7C050E874A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r>
                  <a:rPr lang="en-US"/>
                  <a:t>,Call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1"/>
        <c:spPr>
          <a:solidFill>
            <a:schemeClr val="accent6">
              <a:shade val="86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7.3913268969233283E-3"/>
              <c:y val="4.1852354037322419E-3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fld id="{F62B5F48-0AFC-4AEC-A6BE-3371EA0DA866}" type="PERCENTAGE">
                  <a:rPr lang="en-US"/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t>[PERCENTAGE]</a:t>
                </a:fld>
                <a:r>
                  <a:rPr lang="en-US"/>
                  <a:t>, Chat</a:t>
                </a:r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22"/>
        <c:spPr>
          <a:solidFill>
            <a:schemeClr val="accent6">
              <a:tint val="86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6">
              <a:tint val="58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'pivottable for dashboard'!$AL$2</c:f>
              <c:strCache>
                <c:ptCount val="1"/>
                <c:pt idx="0">
                  <c:v>Total</c:v>
                </c:pt>
              </c:strCache>
            </c:strRef>
          </c:tx>
          <c:explosion val="3"/>
          <c:dPt>
            <c:idx val="0"/>
            <c:bubble3D val="0"/>
            <c:explosion val="12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2E2-41C9-BF31-04CFD3547A3D}"/>
              </c:ext>
            </c:extLst>
          </c:dPt>
          <c:dPt>
            <c:idx val="1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E2-41C9-BF31-04CFD3547A3D}"/>
              </c:ext>
            </c:extLst>
          </c:dPt>
          <c:dPt>
            <c:idx val="2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2-41C9-BF31-04CFD3547A3D}"/>
              </c:ext>
            </c:extLst>
          </c:dPt>
          <c:dPt>
            <c:idx val="3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2-41C9-BF31-04CFD3547A3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BDBEB5F-BC10-4433-8D09-5A7C050E874A}" type="PERCENTAGE">
                      <a:rPr lang="en-US"/>
                      <a:pPr/>
                      <a:t>[PERCENTAGE]</a:t>
                    </a:fld>
                    <a:r>
                      <a:rPr lang="en-US"/>
                      <a:t>,Call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2E2-41C9-BF31-04CFD3547A3D}"/>
                </c:ext>
              </c:extLst>
            </c:dLbl>
            <c:dLbl>
              <c:idx val="1"/>
              <c:layout>
                <c:manualLayout>
                  <c:x val="-7.3913268969233283E-3"/>
                  <c:y val="4.1852354037322419E-3"/>
                </c:manualLayout>
              </c:layout>
              <c:tx>
                <c:rich>
                  <a:bodyPr/>
                  <a:lstStyle/>
                  <a:p>
                    <a:fld id="{F62B5F48-0AFC-4AEC-A6BE-3371EA0DA866}" type="PERCENTAGE">
                      <a:rPr lang="en-US"/>
                      <a:pPr/>
                      <a:t>[PERCENTAGE]</a:t>
                    </a:fld>
                    <a:r>
                      <a:rPr lang="en-US"/>
                      <a:t>, Chat</a:t>
                    </a:r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2E2-41C9-BF31-04CFD3547A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2E2-41C9-BF31-04CFD3547A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'pivottable for dashboard'!$AK$3:$AK$7</c:f>
              <c:strCache>
                <c:ptCount val="4"/>
                <c:pt idx="0">
                  <c:v>Call</c:v>
                </c:pt>
                <c:pt idx="1">
                  <c:v>Chat</c:v>
                </c:pt>
                <c:pt idx="2">
                  <c:v>Complementary</c:v>
                </c:pt>
                <c:pt idx="3">
                  <c:v>public_live_Call</c:v>
                </c:pt>
              </c:strCache>
            </c:strRef>
          </c:cat>
          <c:val>
            <c:numRef>
              <c:f>'pivottable for dashboard'!$AL$3:$AL$7</c:f>
              <c:numCache>
                <c:formatCode>"₹"\ #,##0.00</c:formatCode>
                <c:ptCount val="4"/>
                <c:pt idx="0">
                  <c:v>168520.61833333349</c:v>
                </c:pt>
                <c:pt idx="1">
                  <c:v>45494.683333333342</c:v>
                </c:pt>
                <c:pt idx="3">
                  <c:v>50.596999999999902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2E2-41C9-BF31-04CFD3547A3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[AstroSage_analysis_utkarsh_FINAL1.xlsx]Subj q4!PivotTable2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Hour</a:t>
            </a:r>
            <a:r>
              <a:rPr lang="en-US" b="1" baseline="0"/>
              <a:t> wise Call Distribution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 q4'!$B$2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'Subj q4'!$A$3:$A$27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'Subj q4'!$B$3:$B$27</c:f>
              <c:numCache>
                <c:formatCode>General</c:formatCode>
                <c:ptCount val="24"/>
                <c:pt idx="0">
                  <c:v>33</c:v>
                </c:pt>
                <c:pt idx="1">
                  <c:v>61</c:v>
                </c:pt>
                <c:pt idx="2">
                  <c:v>175</c:v>
                </c:pt>
                <c:pt idx="3">
                  <c:v>209</c:v>
                </c:pt>
                <c:pt idx="4">
                  <c:v>368</c:v>
                </c:pt>
                <c:pt idx="5">
                  <c:v>486</c:v>
                </c:pt>
                <c:pt idx="6">
                  <c:v>622</c:v>
                </c:pt>
                <c:pt idx="7">
                  <c:v>628</c:v>
                </c:pt>
                <c:pt idx="8">
                  <c:v>698</c:v>
                </c:pt>
                <c:pt idx="9">
                  <c:v>622</c:v>
                </c:pt>
                <c:pt idx="10">
                  <c:v>600</c:v>
                </c:pt>
                <c:pt idx="11">
                  <c:v>529</c:v>
                </c:pt>
                <c:pt idx="12">
                  <c:v>573</c:v>
                </c:pt>
                <c:pt idx="13">
                  <c:v>600</c:v>
                </c:pt>
                <c:pt idx="14">
                  <c:v>649</c:v>
                </c:pt>
                <c:pt idx="15">
                  <c:v>633</c:v>
                </c:pt>
                <c:pt idx="16">
                  <c:v>589</c:v>
                </c:pt>
                <c:pt idx="17">
                  <c:v>477</c:v>
                </c:pt>
                <c:pt idx="18">
                  <c:v>307</c:v>
                </c:pt>
                <c:pt idx="19">
                  <c:v>251</c:v>
                </c:pt>
                <c:pt idx="20">
                  <c:v>94</c:v>
                </c:pt>
                <c:pt idx="21">
                  <c:v>41</c:v>
                </c:pt>
                <c:pt idx="22">
                  <c:v>19</c:v>
                </c:pt>
                <c:pt idx="2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D-440A-B890-062DB584BF5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78487984"/>
        <c:axId val="378484744"/>
      </c:barChart>
      <c:catAx>
        <c:axId val="37848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8484744"/>
        <c:crosses val="autoZero"/>
        <c:auto val="1"/>
        <c:lblAlgn val="ctr"/>
        <c:lblOffset val="100"/>
        <c:noMultiLvlLbl val="0"/>
      </c:catAx>
      <c:valAx>
        <c:axId val="378484744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8487984"/>
        <c:crosses val="max"/>
        <c:crossBetween val="between"/>
      </c:valAx>
      <c:spPr>
        <a:gradFill>
          <a:gsLst>
            <a:gs pos="0">
              <a:schemeClr val="bg2">
                <a:tint val="96000"/>
                <a:shade val="100000"/>
                <a:hueMod val="270000"/>
                <a:satMod val="200000"/>
                <a:alpha val="16000"/>
                <a:lumMod val="76000"/>
                <a:lumOff val="24000"/>
              </a:schemeClr>
            </a:gs>
            <a:gs pos="28000">
              <a:schemeClr val="bg2">
                <a:shade val="100000"/>
                <a:hueMod val="100000"/>
                <a:satMod val="110000"/>
                <a:lumMod val="130000"/>
              </a:schemeClr>
            </a:gs>
            <a:gs pos="95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dashboard!PivotTable32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Top</a:t>
            </a:r>
            <a:r>
              <a:rPr lang="en-IN" b="1" baseline="0"/>
              <a:t> 10 Guru Rating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'pivottable for dashboard'!$AE$2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'pivottable for dashboard'!$AD$3:$AD$13</c:f>
              <c:strCache>
                <c:ptCount val="10"/>
                <c:pt idx="0">
                  <c:v>Astro  Pujaa Rai</c:v>
                </c:pt>
                <c:pt idx="1">
                  <c:v>Astro  Saraswat</c:v>
                </c:pt>
                <c:pt idx="2">
                  <c:v>Astro  Trisha</c:v>
                </c:pt>
                <c:pt idx="3">
                  <c:v>Astro Manish S</c:v>
                </c:pt>
                <c:pt idx="4">
                  <c:v>Astro Reema</c:v>
                </c:pt>
                <c:pt idx="5">
                  <c:v>Daljit Kaur</c:v>
                </c:pt>
                <c:pt idx="6">
                  <c:v>Tarot  Ankita</c:v>
                </c:pt>
                <c:pt idx="7">
                  <c:v>Tarot  Diva Poonam</c:v>
                </c:pt>
                <c:pt idx="8">
                  <c:v>Tarot  Mystical</c:v>
                </c:pt>
                <c:pt idx="9">
                  <c:v>Tarot  Oormika</c:v>
                </c:pt>
              </c:strCache>
            </c:strRef>
          </c:cat>
          <c:val>
            <c:numRef>
              <c:f>'pivottable for dashboard'!$AE$3:$AE$13</c:f>
              <c:numCache>
                <c:formatCode>General</c:formatCode>
                <c:ptCount val="10"/>
                <c:pt idx="0">
                  <c:v>7.5</c:v>
                </c:pt>
                <c:pt idx="1">
                  <c:v>5.6111111111111107</c:v>
                </c:pt>
                <c:pt idx="2">
                  <c:v>5.4243243243243242</c:v>
                </c:pt>
                <c:pt idx="3">
                  <c:v>5.0487804878048781</c:v>
                </c:pt>
                <c:pt idx="4">
                  <c:v>5.9</c:v>
                </c:pt>
                <c:pt idx="5">
                  <c:v>5.9459459459459456</c:v>
                </c:pt>
                <c:pt idx="6">
                  <c:v>5.75</c:v>
                </c:pt>
                <c:pt idx="7">
                  <c:v>5.4626865671641793</c:v>
                </c:pt>
                <c:pt idx="8">
                  <c:v>7.5</c:v>
                </c:pt>
                <c:pt idx="9">
                  <c:v>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DA-4E15-9800-1BF46EF03A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1738551"/>
        <c:axId val="1741736391"/>
      </c:barChart>
      <c:catAx>
        <c:axId val="1741738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1736391"/>
        <c:crosses val="autoZero"/>
        <c:auto val="1"/>
        <c:lblAlgn val="ctr"/>
        <c:lblOffset val="100"/>
        <c:noMultiLvlLbl val="0"/>
      </c:catAx>
      <c:valAx>
        <c:axId val="17417363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17385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bg2">
            <a:tint val="96000"/>
            <a:shade val="100000"/>
            <a:hueMod val="270000"/>
            <a:satMod val="200000"/>
            <a:alpha val="16000"/>
            <a:lumMod val="76000"/>
            <a:lumOff val="24000"/>
          </a:schemeClr>
        </a:gs>
        <a:gs pos="28000">
          <a:schemeClr val="bg2">
            <a:shade val="100000"/>
            <a:hueMod val="100000"/>
            <a:satMod val="110000"/>
            <a:lumMod val="130000"/>
          </a:schemeClr>
        </a:gs>
        <a:gs pos="95000">
          <a:schemeClr val="bg2">
            <a:shade val="78000"/>
            <a:hueMod val="44000"/>
            <a:satMod val="200000"/>
            <a:lumMod val="69000"/>
          </a:schemeClr>
        </a:gs>
      </a:gsLst>
      <a:lin ang="2520000" scaled="0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dashboard!PivotTable2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User</a:t>
            </a:r>
            <a:r>
              <a:rPr lang="en-US" b="1" baseline="0"/>
              <a:t> Wise Rating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'pivottable for dashboard'!$CJ$60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'pivottable for dashboard'!$CI$61:$CI$70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'pivottable for dashboard'!$CJ$61:$CJ$70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B4-4C71-991D-24A710B07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4635072"/>
        <c:axId val="864641912"/>
      </c:barChart>
      <c:catAx>
        <c:axId val="8646350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Rating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641912"/>
        <c:crosses val="autoZero"/>
        <c:auto val="1"/>
        <c:lblAlgn val="ctr"/>
        <c:lblOffset val="100"/>
        <c:noMultiLvlLbl val="0"/>
      </c:catAx>
      <c:valAx>
        <c:axId val="864641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</a:t>
                </a:r>
                <a:r>
                  <a:rPr lang="en-IN" baseline="0"/>
                  <a:t> of Rating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635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bg2">
            <a:tint val="96000"/>
            <a:shade val="100000"/>
            <a:hueMod val="270000"/>
            <a:satMod val="200000"/>
            <a:alpha val="16000"/>
            <a:lumMod val="76000"/>
            <a:lumOff val="24000"/>
          </a:schemeClr>
        </a:gs>
        <a:gs pos="28000">
          <a:schemeClr val="bg2">
            <a:shade val="100000"/>
            <a:hueMod val="100000"/>
            <a:satMod val="110000"/>
            <a:lumMod val="130000"/>
          </a:schemeClr>
        </a:gs>
        <a:gs pos="95000">
          <a:schemeClr val="bg2">
            <a:shade val="78000"/>
            <a:hueMod val="44000"/>
            <a:satMod val="200000"/>
            <a:lumMod val="69000"/>
          </a:schemeClr>
        </a:gs>
      </a:gsLst>
      <a:lin ang="2520000" scaled="0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dashboard!PivotTable44</c:name>
    <c:fmtId val="17"/>
  </c:pivotSource>
  <c:chart>
    <c:autoTitleDeleted val="1"/>
    <c:pivotFmts>
      <c:pivotFmt>
        <c:idx val="0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'pivottable for dashboard'!$CN$2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'pivottable for dashboard'!$CM$3:$CM$12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'pivottable for dashboard'!$CN$3:$CN$12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C5-4012-8CDC-C5ABB816C9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1463599"/>
        <c:axId val="771462879"/>
      </c:barChart>
      <c:catAx>
        <c:axId val="771463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Rating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1462879"/>
        <c:crosses val="autoZero"/>
        <c:auto val="1"/>
        <c:lblAlgn val="ctr"/>
        <c:lblOffset val="100"/>
        <c:noMultiLvlLbl val="0"/>
      </c:catAx>
      <c:valAx>
        <c:axId val="77146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 of guru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1463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bg2">
            <a:tint val="96000"/>
            <a:shade val="100000"/>
            <a:hueMod val="270000"/>
            <a:satMod val="200000"/>
            <a:alpha val="16000"/>
            <a:lumMod val="76000"/>
            <a:lumOff val="24000"/>
          </a:schemeClr>
        </a:gs>
        <a:gs pos="28000">
          <a:schemeClr val="bg2">
            <a:shade val="100000"/>
            <a:hueMod val="100000"/>
            <a:satMod val="110000"/>
            <a:lumMod val="130000"/>
          </a:schemeClr>
        </a:gs>
        <a:gs pos="95000">
          <a:schemeClr val="bg2">
            <a:shade val="78000"/>
            <a:hueMod val="44000"/>
            <a:satMod val="200000"/>
            <a:lumMod val="69000"/>
          </a:schemeClr>
        </a:gs>
      </a:gsLst>
      <a:lin ang="2520000" scaled="0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pivotSource>
    <c:name>[AstroSage_analysis_utkarsh_FINAL1.xlsx]pivottable for dashboard!PivotTable31</c:name>
    <c:fmtId val="23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7414613496178217E-2"/>
          <c:y val="0.26791447944006996"/>
          <c:w val="0.83006986808203687"/>
          <c:h val="0.394202026829979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'pivottable for dashboard'!$AB$2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'pivottable for dashboard'!$AA$3:$AA$37</c:f>
              <c:strCache>
                <c:ptCount val="34"/>
                <c:pt idx="0">
                  <c:v>01-12-2023</c:v>
                </c:pt>
                <c:pt idx="1">
                  <c:v>02-12-2023</c:v>
                </c:pt>
                <c:pt idx="2">
                  <c:v>03-12-2023</c:v>
                </c:pt>
                <c:pt idx="3">
                  <c:v>04-12-2023</c:v>
                </c:pt>
                <c:pt idx="4">
                  <c:v>05-12-2023</c:v>
                </c:pt>
                <c:pt idx="5">
                  <c:v>06-12-2023</c:v>
                </c:pt>
                <c:pt idx="6">
                  <c:v>07-12-2023</c:v>
                </c:pt>
                <c:pt idx="7">
                  <c:v>08-12-2023</c:v>
                </c:pt>
                <c:pt idx="8">
                  <c:v>09-12-2023</c:v>
                </c:pt>
                <c:pt idx="9">
                  <c:v>10-12-2023</c:v>
                </c:pt>
                <c:pt idx="10">
                  <c:v>11-12-2023</c:v>
                </c:pt>
                <c:pt idx="11">
                  <c:v>12-12-2023</c:v>
                </c:pt>
                <c:pt idx="12">
                  <c:v>13-12-2023</c:v>
                </c:pt>
                <c:pt idx="13">
                  <c:v>14-12-2023</c:v>
                </c:pt>
                <c:pt idx="14">
                  <c:v>15-12-2023</c:v>
                </c:pt>
                <c:pt idx="15">
                  <c:v>16-12-2023</c:v>
                </c:pt>
                <c:pt idx="16">
                  <c:v>17-12-2023</c:v>
                </c:pt>
                <c:pt idx="17">
                  <c:v>18-12-2023</c:v>
                </c:pt>
                <c:pt idx="18">
                  <c:v>19-12-2023</c:v>
                </c:pt>
                <c:pt idx="19">
                  <c:v>20-12-2023</c:v>
                </c:pt>
                <c:pt idx="20">
                  <c:v>21-12-2023</c:v>
                </c:pt>
                <c:pt idx="21">
                  <c:v>22-12-2023</c:v>
                </c:pt>
                <c:pt idx="22">
                  <c:v>23-12-2023</c:v>
                </c:pt>
                <c:pt idx="23">
                  <c:v>24-12-2023</c:v>
                </c:pt>
                <c:pt idx="24">
                  <c:v>25-12-2023</c:v>
                </c:pt>
                <c:pt idx="25">
                  <c:v>26-12-2023</c:v>
                </c:pt>
                <c:pt idx="26">
                  <c:v>27-12-2023</c:v>
                </c:pt>
                <c:pt idx="27">
                  <c:v>28-12-2023</c:v>
                </c:pt>
                <c:pt idx="28">
                  <c:v>29-12-2023</c:v>
                </c:pt>
                <c:pt idx="29">
                  <c:v>30-12-2023</c:v>
                </c:pt>
                <c:pt idx="30">
                  <c:v>31-12-2023</c:v>
                </c:pt>
                <c:pt idx="31">
                  <c:v>01-01-2024</c:v>
                </c:pt>
                <c:pt idx="32">
                  <c:v>02-01-2024</c:v>
                </c:pt>
                <c:pt idx="33">
                  <c:v>03-01-2024</c:v>
                </c:pt>
              </c:strCache>
            </c:strRef>
          </c:cat>
          <c:val>
            <c:numRef>
              <c:f>'pivottable for dashboard'!$AB$3:$AB$37</c:f>
              <c:numCache>
                <c:formatCode>General</c:formatCode>
                <c:ptCount val="34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185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260</c:v>
                </c:pt>
                <c:pt idx="29">
                  <c:v>179</c:v>
                </c:pt>
                <c:pt idx="30">
                  <c:v>158</c:v>
                </c:pt>
                <c:pt idx="31">
                  <c:v>115</c:v>
                </c:pt>
                <c:pt idx="32">
                  <c:v>196</c:v>
                </c:pt>
                <c:pt idx="33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0B-4604-9095-2A9F90D045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71536416"/>
        <c:axId val="671532816"/>
      </c:barChart>
      <c:catAx>
        <c:axId val="67153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1532816"/>
        <c:crosses val="autoZero"/>
        <c:auto val="1"/>
        <c:lblAlgn val="ctr"/>
        <c:lblOffset val="100"/>
        <c:noMultiLvlLbl val="0"/>
      </c:catAx>
      <c:valAx>
        <c:axId val="671532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1536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0">
          <a:schemeClr val="bg2">
            <a:tint val="96000"/>
            <a:shade val="100000"/>
            <a:hueMod val="270000"/>
            <a:satMod val="200000"/>
            <a:alpha val="16000"/>
            <a:lumMod val="76000"/>
            <a:lumOff val="24000"/>
          </a:schemeClr>
        </a:gs>
        <a:gs pos="28000">
          <a:schemeClr val="bg2">
            <a:shade val="100000"/>
            <a:hueMod val="100000"/>
            <a:satMod val="110000"/>
            <a:lumMod val="130000"/>
          </a:schemeClr>
        </a:gs>
        <a:gs pos="95000">
          <a:schemeClr val="bg2">
            <a:shade val="78000"/>
            <a:hueMod val="44000"/>
            <a:satMod val="200000"/>
            <a:lumMod val="69000"/>
          </a:schemeClr>
        </a:gs>
      </a:gsLst>
      <a:lin ang="2520000" scaled="0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7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8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64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18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6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96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34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61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6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53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0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56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974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37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3684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024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292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367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alpha val="16000"/>
                <a:lumMod val="76000"/>
                <a:lumOff val="24000"/>
              </a:schemeClr>
            </a:gs>
            <a:gs pos="28000">
              <a:schemeClr val="bg2">
                <a:shade val="100000"/>
                <a:hueMod val="100000"/>
                <a:satMod val="110000"/>
                <a:lumMod val="130000"/>
              </a:schemeClr>
            </a:gs>
            <a:gs pos="95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4E95F-DF04-4872-801A-BB8A37FCBD13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81D49-F0C1-4120-89D0-5AD64BB329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80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7BAC-D096-B796-B9D3-764AADDE2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ASTROSAGE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DE345-B931-5893-3737-38370CF2C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UTKARSH CHANDRA</a:t>
            </a:r>
          </a:p>
          <a:p>
            <a:r>
              <a:rPr lang="en-IN" dirty="0"/>
              <a:t>05-09-2025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B98E6-AACF-833A-77BC-2A4A8C8F3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4588" y="2194249"/>
            <a:ext cx="2469502" cy="246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81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B1D7-DFAC-78A4-1448-B34655BB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ABOUT ASTROSAGE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A7479-A336-B761-E366-48E91169F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7892179" cy="359931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AstroSage</a:t>
            </a:r>
            <a:r>
              <a:rPr lang="en-US" dirty="0"/>
              <a:t> is a leading astrology platform that provides a wide range of services such as personalized horoscopes, </a:t>
            </a:r>
            <a:r>
              <a:rPr lang="en-US" dirty="0" err="1"/>
              <a:t>Kundli</a:t>
            </a:r>
            <a:r>
              <a:rPr lang="en-US" dirty="0"/>
              <a:t> generation, compatibility matching, Vastu guidance, and live consultations with astrologers. Available both as a website and a mobile app with millions of users, it combines traditional Vedic astrology with modern technology to deliver accurate and accessible predictions in multiple languages.</a:t>
            </a:r>
            <a:endParaRPr lang="en-IN" dirty="0"/>
          </a:p>
        </p:txBody>
      </p:sp>
      <p:pic>
        <p:nvPicPr>
          <p:cNvPr id="4" name="Google Shape;109;p14" descr="AstroSage Kundli">
            <a:extLst>
              <a:ext uri="{FF2B5EF4-FFF2-40B4-BE49-F238E27FC236}">
                <a16:creationId xmlns:a16="http://schemas.microsoft.com/office/drawing/2014/main" id="{86A08405-8B8C-86C9-7BAD-664C9415862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43950" y="2269064"/>
            <a:ext cx="3257550" cy="3667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0415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A750D-95F3-43CD-1F12-9E4EF3EA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379A-16A5-93C5-B8A1-092144073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cs typeface="Arial" panose="020B0604020202020204" pitchFamily="34" charset="0"/>
              </a:rPr>
              <a:t>To optimize call </a:t>
            </a:r>
            <a:r>
              <a:rPr lang="en-IN" dirty="0" err="1">
                <a:cs typeface="Arial" panose="020B0604020202020204" pitchFamily="34" charset="0"/>
              </a:rPr>
              <a:t>center</a:t>
            </a:r>
            <a:r>
              <a:rPr lang="en-IN" dirty="0">
                <a:cs typeface="Arial" panose="020B0604020202020204" pitchFamily="34" charset="0"/>
              </a:rPr>
              <a:t> operations for </a:t>
            </a:r>
            <a:r>
              <a:rPr lang="en-IN" dirty="0" err="1">
                <a:cs typeface="Arial" panose="020B0604020202020204" pitchFamily="34" charset="0"/>
              </a:rPr>
              <a:t>AstroSage</a:t>
            </a:r>
            <a:r>
              <a:rPr lang="en-IN" dirty="0">
                <a:cs typeface="Arial" panose="020B0604020202020204" pitchFamily="34" charset="0"/>
              </a:rPr>
              <a:t> with a 1 crore investment.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cs typeface="Arial" panose="020B0604020202020204" pitchFamily="34" charset="0"/>
              </a:rPr>
              <a:t>The goal is to determine how to allocate this investment to maximize operational efficiency, customer satisfaction, and profitability.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cs typeface="Arial" panose="020B0604020202020204" pitchFamily="34" charset="0"/>
              </a:rPr>
              <a:t>This project will involve </a:t>
            </a:r>
            <a:r>
              <a:rPr lang="en-IN" dirty="0" err="1">
                <a:cs typeface="Arial" panose="020B0604020202020204" pitchFamily="34" charset="0"/>
              </a:rPr>
              <a:t>analyzing</a:t>
            </a:r>
            <a:r>
              <a:rPr lang="en-IN" dirty="0">
                <a:cs typeface="Arial" panose="020B0604020202020204" pitchFamily="34" charset="0"/>
              </a:rPr>
              <a:t> historical call data, performance metrics, and market trends to make informed decisions.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94842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5954-6FF5-E2D2-B6BE-5ADDE545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IDENTIFYING PROBLEM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CBDD-AAB6-9652-DAD0-6CFDEA0D9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08" y="2121608"/>
            <a:ext cx="9613861" cy="3599316"/>
          </a:xfrm>
        </p:spPr>
        <p:txBody>
          <a:bodyPr/>
          <a:lstStyle/>
          <a:p>
            <a:r>
              <a:rPr lang="en-IN" sz="2000" dirty="0" err="1">
                <a:cs typeface="Arial" panose="020B0604020202020204" pitchFamily="34" charset="0"/>
              </a:rPr>
              <a:t>AstroSage</a:t>
            </a:r>
            <a:r>
              <a:rPr lang="en-IN" sz="2000" dirty="0">
                <a:cs typeface="Arial" panose="020B0604020202020204" pitchFamily="34" charset="0"/>
              </a:rPr>
              <a:t> has been facing challenges in maintaining optimal call  </a:t>
            </a:r>
            <a:r>
              <a:rPr lang="en-IN" sz="2000" dirty="0" err="1">
                <a:cs typeface="Arial" panose="020B0604020202020204" pitchFamily="34" charset="0"/>
              </a:rPr>
              <a:t>center</a:t>
            </a:r>
            <a:r>
              <a:rPr lang="en-IN" sz="2000" dirty="0">
                <a:cs typeface="Arial" panose="020B0604020202020204" pitchFamily="34" charset="0"/>
              </a:rPr>
              <a:t> performance.</a:t>
            </a:r>
          </a:p>
          <a:p>
            <a:r>
              <a:rPr lang="en-IN" sz="2000" dirty="0">
                <a:cs typeface="Arial" panose="020B0604020202020204" pitchFamily="34" charset="0"/>
              </a:rPr>
              <a:t>As per given Data 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9BB14E06-A7BF-2EE0-9D69-4D1D8576C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025" y="3307064"/>
            <a:ext cx="8127999" cy="25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3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B04B-DED2-15D2-C412-F9B68839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TRAFFIC WEBSITE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6BD090-E150-79CE-0A20-190F2D3BDB53}"/>
              </a:ext>
            </a:extLst>
          </p:cNvPr>
          <p:cNvSpPr/>
          <p:nvPr/>
        </p:nvSpPr>
        <p:spPr>
          <a:xfrm>
            <a:off x="952500" y="2369642"/>
            <a:ext cx="3276600" cy="35337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094C71-6681-76E5-8A4A-F0CE8F631928}"/>
              </a:ext>
            </a:extLst>
          </p:cNvPr>
          <p:cNvSpPr/>
          <p:nvPr/>
        </p:nvSpPr>
        <p:spPr>
          <a:xfrm>
            <a:off x="146466" y="3350718"/>
            <a:ext cx="1612068" cy="15716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traffic </a:t>
            </a:r>
            <a:r>
              <a:rPr lang="en-IN" dirty="0" err="1"/>
              <a:t>Plateform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639364-005D-FF31-51DF-6E41AD15B53D}"/>
              </a:ext>
            </a:extLst>
          </p:cNvPr>
          <p:cNvSpPr/>
          <p:nvPr/>
        </p:nvSpPr>
        <p:spPr>
          <a:xfrm>
            <a:off x="3423066" y="3429000"/>
            <a:ext cx="1612068" cy="15716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 err="1"/>
              <a:t>Gurucool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App</a:t>
            </a:r>
          </a:p>
          <a:p>
            <a:pPr>
              <a:lnSpc>
                <a:spcPct val="150000"/>
              </a:lnSpc>
            </a:pPr>
            <a:r>
              <a:rPr lang="en-IN" dirty="0"/>
              <a:t>Dashboard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2590E02-F790-A55A-DD92-322773C105C5}"/>
              </a:ext>
            </a:extLst>
          </p:cNvPr>
          <p:cNvSpPr/>
          <p:nvPr/>
        </p:nvSpPr>
        <p:spPr>
          <a:xfrm>
            <a:off x="1943100" y="3810000"/>
            <a:ext cx="1343025" cy="62865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1DC3C-D90F-21FB-A6E0-536436F22CA8}"/>
              </a:ext>
            </a:extLst>
          </p:cNvPr>
          <p:cNvSpPr txBox="1"/>
          <p:nvPr/>
        </p:nvSpPr>
        <p:spPr>
          <a:xfrm>
            <a:off x="1077525" y="2507158"/>
            <a:ext cx="30741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/>
              <a:t>According to given data</a:t>
            </a:r>
          </a:p>
          <a:p>
            <a:pPr algn="ctr"/>
            <a:r>
              <a:rPr lang="en-IN" dirty="0" err="1"/>
              <a:t>Gurucool</a:t>
            </a:r>
            <a:r>
              <a:rPr lang="en-IN" dirty="0"/>
              <a:t> have more Traffic </a:t>
            </a:r>
          </a:p>
          <a:p>
            <a:pPr algn="ctr"/>
            <a:r>
              <a:rPr lang="en-IN" dirty="0"/>
              <a:t>Than app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F8FB6E6-B8C0-410E-B97F-D99A7E7295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516924"/>
              </p:ext>
            </p:extLst>
          </p:nvPr>
        </p:nvGraphicFramePr>
        <p:xfrm>
          <a:off x="3859726" y="2114294"/>
          <a:ext cx="10201275" cy="4376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7415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E09F-9DA1-56D3-7BD0-88004D06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923" y="661788"/>
            <a:ext cx="9613861" cy="1080938"/>
          </a:xfrm>
        </p:spPr>
        <p:txBody>
          <a:bodyPr/>
          <a:lstStyle/>
          <a:p>
            <a:r>
              <a:rPr lang="en-IN" dirty="0"/>
              <a:t>USER CALL STATUS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B40451-4B31-4A27-A5E5-A26FDA16C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73104"/>
              </p:ext>
            </p:extLst>
          </p:nvPr>
        </p:nvGraphicFramePr>
        <p:xfrm>
          <a:off x="6020713" y="1909525"/>
          <a:ext cx="6713317" cy="4575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1BADC0-A5BF-6121-8453-D9C6BC3D843D}"/>
              </a:ext>
            </a:extLst>
          </p:cNvPr>
          <p:cNvSpPr txBox="1"/>
          <p:nvPr/>
        </p:nvSpPr>
        <p:spPr>
          <a:xfrm>
            <a:off x="925975" y="2558004"/>
            <a:ext cx="3738622" cy="1770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37FE67F-6D1B-6B64-15E8-EE879B5D9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23" y="2458106"/>
            <a:ext cx="586807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/>
              <a:t>Insights</a:t>
            </a:r>
          </a:p>
          <a:p>
            <a:endParaRPr lang="en-US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41% calls completed; 59% not successful.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No-answer (21%) and busy (15%) are key blockers.</a:t>
            </a:r>
          </a:p>
          <a:p>
            <a:r>
              <a:rPr lang="en-US" sz="2000" b="1" u="sng" dirty="0"/>
              <a:t>Recommendations</a:t>
            </a:r>
          </a:p>
          <a:p>
            <a:endParaRPr lang="en-US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Optimize call timing &amp; add call-back option.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 network/agent handling for failed calls.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 smart dialers to raise completion rates.</a:t>
            </a:r>
          </a:p>
        </p:txBody>
      </p:sp>
    </p:spTree>
    <p:extLst>
      <p:ext uri="{BB962C8B-B14F-4D97-AF65-F5344CB8AC3E}">
        <p14:creationId xmlns:p14="http://schemas.microsoft.com/office/powerpoint/2010/main" val="249151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525B-2DBE-B3D7-4CD8-904C4E909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CHAT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F8C01-C5AE-DB7D-8F42-CADE4F15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6301503" cy="386390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Insights</a:t>
            </a:r>
          </a:p>
          <a:p>
            <a:pPr lvl="1">
              <a:lnSpc>
                <a:spcPct val="160000"/>
              </a:lnSpc>
            </a:pPr>
            <a:r>
              <a:rPr lang="en-US" sz="2400" dirty="0"/>
              <a:t>Only 29% chats completed; 71% not successful.</a:t>
            </a:r>
          </a:p>
          <a:p>
            <a:pPr lvl="1">
              <a:lnSpc>
                <a:spcPct val="160000"/>
              </a:lnSpc>
            </a:pPr>
            <a:r>
              <a:rPr lang="en-US" sz="2400" dirty="0"/>
              <a:t>Failed (37%) and incomplete (34%) dominate issues.</a:t>
            </a:r>
          </a:p>
          <a:p>
            <a:r>
              <a:rPr lang="en-US" b="1" dirty="0"/>
              <a:t>Recommendations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2400" dirty="0"/>
              <a:t>Fix tech issues to reduce failures.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Improve agent response to cut incompletes.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Use guided flows/chatbots to boost completions.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F651F22-81A2-4507-AE3C-4B3F1C1F3E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377942"/>
              </p:ext>
            </p:extLst>
          </p:nvPr>
        </p:nvGraphicFramePr>
        <p:xfrm>
          <a:off x="4931924" y="1590974"/>
          <a:ext cx="8509068" cy="5393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8781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0A14-6A80-BB08-2C75-141AA4D1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SALES AND REVENUE GENERATED BY COMPANY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5CABC-0133-EE8F-CDA7-14B7F09C5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5415679" cy="413202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Product-wise Revenue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Calls:</a:t>
            </a:r>
            <a:r>
              <a:rPr lang="en-US" dirty="0"/>
              <a:t> ₹1,68,529.62 (79%) – primary revenue driver with strong customer conversion.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Chats:</a:t>
            </a:r>
            <a:r>
              <a:rPr lang="en-US" dirty="0"/>
              <a:t> ₹45,494.68 (21%) – smaller but promising share.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Heavy reliance on calls; boosting chat performance can diversify and grow revenue.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E737E2E-43E0-4FBD-B0B5-C7837CD398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695620"/>
              </p:ext>
            </p:extLst>
          </p:nvPr>
        </p:nvGraphicFramePr>
        <p:xfrm>
          <a:off x="5909642" y="2086867"/>
          <a:ext cx="6825284" cy="46282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2923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795A-2DA4-18EF-4006-8864B7EB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CALL DISTRIBUTION PER HOUR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45A417-D087-41F5-9BF7-A24F2D405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374966"/>
              </p:ext>
            </p:extLst>
          </p:nvPr>
        </p:nvGraphicFramePr>
        <p:xfrm>
          <a:off x="5029200" y="2066925"/>
          <a:ext cx="6991350" cy="461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971BC4-1536-ED24-9880-119B2584F0E4}"/>
              </a:ext>
            </a:extLst>
          </p:cNvPr>
          <p:cNvSpPr txBox="1"/>
          <p:nvPr/>
        </p:nvSpPr>
        <p:spPr>
          <a:xfrm>
            <a:off x="390525" y="2457450"/>
            <a:ext cx="47053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Increase staffing and schedule more     agents during peak hours.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 flexible schedules and allow shift swapping to cover busy periods.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Implement skill-based call routing and advanced call distribution.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Offer callback options to reduce wait times and queue lengths.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74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CEC-2E48-E51A-3C6A-F4A26368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 10 GURUS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E609A-37FB-1286-A062-9A1DA0F55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306" y="2346398"/>
            <a:ext cx="5606179" cy="35993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Astro </a:t>
            </a:r>
            <a:r>
              <a:rPr lang="en-US" sz="2000" dirty="0" err="1"/>
              <a:t>Pujaa</a:t>
            </a:r>
            <a:r>
              <a:rPr lang="en-US" sz="2000" dirty="0"/>
              <a:t> Rai and Tarot Mystical lead with top ratings above 7.5.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Most other gurus score between 5 and 6, showing consistent performance.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Significant gap exists between the top two gurus and the rest, indicating strong areas for improvement.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Focus improvement initiatives on gurus rated around 5 to boost overall satisfaction.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43427B6-A4B2-4D9F-9D9D-CF2173C858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7512197"/>
              </p:ext>
            </p:extLst>
          </p:nvPr>
        </p:nvGraphicFramePr>
        <p:xfrm>
          <a:off x="6372225" y="2153822"/>
          <a:ext cx="5502469" cy="4323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628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2DA8-EE8D-7889-D3C3-8FB950BA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RATING VS COUNT OF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927BE-3161-5D1D-130E-AA60B4BAE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247" y="2206888"/>
            <a:ext cx="5120404" cy="4287704"/>
          </a:xfrm>
        </p:spPr>
        <p:txBody>
          <a:bodyPr>
            <a:normAutofit/>
          </a:bodyPr>
          <a:lstStyle/>
          <a:p>
            <a:r>
              <a:rPr lang="en-US" sz="2000" dirty="0"/>
              <a:t>Majority of users gave the lowest rating of 0, indicating high dissatisfaction.</a:t>
            </a:r>
          </a:p>
          <a:p>
            <a:r>
              <a:rPr lang="en-US" sz="2000" dirty="0"/>
              <a:t>Ratings 2 and 3 have moderate counts, showing some neutral or mild satisfaction.</a:t>
            </a:r>
          </a:p>
          <a:p>
            <a:r>
              <a:rPr lang="en-US" sz="2000" dirty="0"/>
              <a:t>Higher ratings (4 to 8) have significantly fewer counts, reflecting low strong positive feedback.</a:t>
            </a:r>
          </a:p>
          <a:p>
            <a:r>
              <a:rPr lang="en-US" sz="2000" dirty="0"/>
              <a:t>Focus on addressing issues causing low ratings to improve overall user satisfaction.</a:t>
            </a: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0024B3D-479C-4676-BE03-42BA987B22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604793"/>
              </p:ext>
            </p:extLst>
          </p:nvPr>
        </p:nvGraphicFramePr>
        <p:xfrm>
          <a:off x="5992867" y="2160719"/>
          <a:ext cx="5654565" cy="4287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1965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BF0D-1B05-C1CF-C62F-4BB6FE6D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GURU WISE 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BFA87-D59B-740B-75F1-B9AE49978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076450"/>
            <a:ext cx="5827483" cy="2089212"/>
          </a:xfrm>
        </p:spPr>
        <p:txBody>
          <a:bodyPr>
            <a:noAutofit/>
          </a:bodyPr>
          <a:lstStyle/>
          <a:p>
            <a:r>
              <a:rPr lang="en-IN" sz="2000" dirty="0"/>
              <a:t>Insights:</a:t>
            </a:r>
          </a:p>
          <a:p>
            <a:pPr lvl="1"/>
            <a:r>
              <a:rPr lang="en-US" dirty="0"/>
              <a:t>Rating 0 tops the list with around 7500 counts.</a:t>
            </a:r>
          </a:p>
          <a:p>
            <a:pPr lvl="1"/>
            <a:r>
              <a:rPr lang="en-US" dirty="0"/>
              <a:t>Ratings 1 to 3 have a moderate range of 2000 to 4000 counts.</a:t>
            </a:r>
          </a:p>
          <a:p>
            <a:pPr lvl="1"/>
            <a:r>
              <a:rPr lang="en-US" dirty="0"/>
              <a:t>Ratings 4 to 8 are lower and steady, around 1500 to 2000 counts.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C783026-2933-439D-847E-8998DFBEC2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7026403"/>
              </p:ext>
            </p:extLst>
          </p:nvPr>
        </p:nvGraphicFramePr>
        <p:xfrm>
          <a:off x="6770450" y="2076450"/>
          <a:ext cx="5354873" cy="4610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A246DF1-8E54-7AA6-4876-32DDD7924291}"/>
              </a:ext>
            </a:extLst>
          </p:cNvPr>
          <p:cNvSpPr txBox="1"/>
          <p:nvPr/>
        </p:nvSpPr>
        <p:spPr>
          <a:xfrm>
            <a:off x="680321" y="4426085"/>
            <a:ext cx="582748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Recommendations: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Investigate the high count at rating 0 to address potential issues or biases.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Enhance factors influencing ratings 1-3 to boost higher ratings (4-8).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Collect feedback to understand preferences and adjust accordingly.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518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1391-9983-897F-0B37-201720DE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DAILY CALL VOLUME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2DC23-87CA-F4E6-F55E-1B5EBB2A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1E1FAB9-37E9-4061-B7FB-A0D323FA9B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7230956"/>
              </p:ext>
            </p:extLst>
          </p:nvPr>
        </p:nvGraphicFramePr>
        <p:xfrm>
          <a:off x="333375" y="2028825"/>
          <a:ext cx="11858625" cy="4829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900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8A56-1BFC-EC35-BB30-4EF998D7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09D66E4-5244-643F-F141-504D122B2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24279" r="47961" b="22646"/>
          <a:stretch>
            <a:fillRect/>
          </a:stretch>
        </p:blipFill>
        <p:spPr>
          <a:xfrm>
            <a:off x="0" y="0"/>
            <a:ext cx="12192000" cy="6859734"/>
          </a:xfrm>
        </p:spPr>
      </p:pic>
    </p:spTree>
    <p:extLst>
      <p:ext uri="{BB962C8B-B14F-4D97-AF65-F5344CB8AC3E}">
        <p14:creationId xmlns:p14="http://schemas.microsoft.com/office/powerpoint/2010/main" val="169170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64C8-FAA7-C343-AB93-1E1D712A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6560AA-BF45-E062-9186-8DD0AD2F6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1709643"/>
            <a:ext cx="9373079" cy="424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 App and Dashboard revenue by promoting features or discounts.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high Guru Rating 0 to address potential issues or enhance appeal.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call completion rate (47%) with better scheduling or follow-ups.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chat success (only 20% completed) through training or tech upgrades.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peak call hours (10 AM-2 PM) for staffing or marketing efforts.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higher ratings (1-8) with incentives for gurus and users. </a:t>
            </a:r>
          </a:p>
        </p:txBody>
      </p:sp>
    </p:spTree>
    <p:extLst>
      <p:ext uri="{BB962C8B-B14F-4D97-AF65-F5344CB8AC3E}">
        <p14:creationId xmlns:p14="http://schemas.microsoft.com/office/powerpoint/2010/main" val="2983652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86D7-0C54-60F5-16F6-C9D63A06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6D4F-17AD-5FEF-174A-FFB072B84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2793405"/>
            <a:ext cx="11450319" cy="473515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lang="en-IN" sz="2600" b="1" i="1" dirty="0">
                <a:ea typeface="Times New Roman" panose="02020603050405020304" pitchFamily="18" charset="0"/>
                <a:cs typeface="Arial" panose="020B0604020202020204" pitchFamily="34" charset="0"/>
              </a:rPr>
              <a:t>Suggestions for Improvement Based on Findings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Agent Training: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Focus training on areas that correlate with high satisfaction, such as consultation effectiveness or reduced resolution time.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Optimization of Call Duration: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Identify the optimal duration range where satisfaction is highest and aim for efficiency within that range.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Feedback Integration: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Use customer feedback to identify pain points and success areas for iterative improvement.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Strategic Resource Allocation: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IN" sz="2600" b="1" dirty="0">
                <a:ea typeface="Times New Roman" panose="02020603050405020304" pitchFamily="18" charset="0"/>
                <a:cs typeface="Arial" panose="020B0604020202020204" pitchFamily="34" charset="0"/>
              </a:rPr>
              <a:t>Deploy high-performing agents during critical time slots or for complex cases to maintain satisfaction levels.</a:t>
            </a:r>
            <a:endParaRPr lang="en-IN" sz="26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C91F9-43B5-B6C4-D8C0-4C19F6FE74FF}"/>
              </a:ext>
            </a:extLst>
          </p:cNvPr>
          <p:cNvSpPr txBox="1"/>
          <p:nvPr/>
        </p:nvSpPr>
        <p:spPr>
          <a:xfrm>
            <a:off x="162158" y="1959842"/>
            <a:ext cx="11176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 err="1">
                <a:cs typeface="Arial" panose="020B0604020202020204" pitchFamily="34" charset="0"/>
              </a:rPr>
              <a:t>AstroSage</a:t>
            </a:r>
            <a:r>
              <a:rPr lang="en-IN" sz="2000" dirty="0">
                <a:cs typeface="Arial" panose="020B0604020202020204" pitchFamily="34" charset="0"/>
              </a:rPr>
              <a:t> faces challenges in call volume, customer satisfaction, and agent performance.</a:t>
            </a:r>
          </a:p>
          <a:p>
            <a:pPr algn="ctr"/>
            <a:r>
              <a:rPr lang="en-IN" sz="2000" dirty="0">
                <a:cs typeface="Arial" panose="020B0604020202020204" pitchFamily="34" charset="0"/>
              </a:rPr>
              <a:t>        Immediate attention is needed to address these issues to remain competitive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34680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F6614-C05E-1F95-7A1C-376BB26E9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816A-5C91-3AEE-48A9-0DCF7A41F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0657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157</TotalTime>
  <Words>819</Words>
  <Application>Microsoft Office PowerPoint</Application>
  <PresentationFormat>Widescreen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Symbol</vt:lpstr>
      <vt:lpstr>Times New Roman</vt:lpstr>
      <vt:lpstr>Trebuchet MS</vt:lpstr>
      <vt:lpstr>Wingdings</vt:lpstr>
      <vt:lpstr>Berlin</vt:lpstr>
      <vt:lpstr>ASTROSAGE ANALYSIS</vt:lpstr>
      <vt:lpstr>ABOUT ASTROSAGE</vt:lpstr>
      <vt:lpstr>PROBLEM STATEMENT</vt:lpstr>
      <vt:lpstr>IDENTIFYING PROBLEM GAPS</vt:lpstr>
      <vt:lpstr>TRAFFIC WEBSITE</vt:lpstr>
      <vt:lpstr>USER CALL STATUS</vt:lpstr>
      <vt:lpstr>USER CHAT STATUS</vt:lpstr>
      <vt:lpstr>TOTAL SALES AND REVENUE GENERATED BY COMPANY</vt:lpstr>
      <vt:lpstr>TOTAL CALL DISTRIBUTION PER HOUR</vt:lpstr>
      <vt:lpstr>TOP 10 GURUS</vt:lpstr>
      <vt:lpstr>RATING VS COUNT OF RATING</vt:lpstr>
      <vt:lpstr>GURU WISE RATING</vt:lpstr>
      <vt:lpstr>DAILY CALL VOLUME TREND</vt:lpstr>
      <vt:lpstr>PowerPoint Presentation</vt:lpstr>
      <vt:lpstr>DASHBOARD KEY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Chandra</dc:creator>
  <cp:lastModifiedBy>Utkarsh Chandra</cp:lastModifiedBy>
  <cp:revision>3</cp:revision>
  <dcterms:created xsi:type="dcterms:W3CDTF">2025-09-05T06:54:49Z</dcterms:created>
  <dcterms:modified xsi:type="dcterms:W3CDTF">2025-09-05T09:38:23Z</dcterms:modified>
</cp:coreProperties>
</file>